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02521-D2E3-A561-5C08-9E7707A4AAC6}" v="30" dt="2026-05-17T02:52:31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0E8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— Literal</c:v>
                </c:pt>
                <c:pt idx="1">
                  <c:v>B — Vocabulario</c:v>
                </c:pt>
                <c:pt idx="2">
                  <c:v>C — Multi-chunk</c:v>
                </c:pt>
                <c:pt idx="3">
                  <c:v>D — Fuera dominio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0.88900000000000001</c:v>
                </c:pt>
                <c:pt idx="1">
                  <c:v>0.76400000000000001</c:v>
                </c:pt>
                <c:pt idx="2">
                  <c:v>0.65500000000000003</c:v>
                </c:pt>
                <c:pt idx="3">
                  <c:v>0.14499999999999999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8-4BDB-90DF-20A0FBDA01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Answer Relevancy</c:v>
                </c:pt>
              </c:strCache>
            </c:strRef>
          </c:tx>
          <c:spPr>
            <a:solidFill>
              <a:srgbClr val="05C3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— Literal</c:v>
                </c:pt>
                <c:pt idx="1">
                  <c:v>B — Vocabulario</c:v>
                </c:pt>
                <c:pt idx="2">
                  <c:v>C — Multi-chunk</c:v>
                </c:pt>
                <c:pt idx="3">
                  <c:v>D — Fuera dominio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0.82599999999999996</c:v>
                </c:pt>
                <c:pt idx="1">
                  <c:v>0.75</c:v>
                </c:pt>
                <c:pt idx="2">
                  <c:v>0.67</c:v>
                </c:pt>
                <c:pt idx="3">
                  <c:v>0.19900000000000001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68-4BDB-90DF-20A0FBDA01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Context Precision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— Literal</c:v>
                </c:pt>
                <c:pt idx="1">
                  <c:v>B — Vocabulario</c:v>
                </c:pt>
                <c:pt idx="2">
                  <c:v>C — Multi-chunk</c:v>
                </c:pt>
                <c:pt idx="3">
                  <c:v>D — Fuera dominio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0.83299999999999996</c:v>
                </c:pt>
                <c:pt idx="2">
                  <c:v>0.66700000000000004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68-4BDB-90DF-20A0FBDA01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D26A0-9FA3-4CA2-BB87-20D73FB0331B}" type="datetimeFigureOut"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FC28A-595A-4E00-B184-5F6DA30D13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548640"/>
            <a:ext cx="1554480" cy="1554480"/>
          </a:xfrm>
          <a:prstGeom prst="ellipse">
            <a:avLst/>
          </a:prstGeom>
          <a:solidFill>
            <a:srgbClr val="0E86D4">
              <a:alpha val="25000"/>
            </a:srgbClr>
          </a:solidFill>
          <a:ln w="19050">
            <a:solidFill>
              <a:srgbClr val="0E8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731520"/>
            <a:ext cx="1188720" cy="1188720"/>
          </a:xfrm>
          <a:prstGeom prst="ellipse">
            <a:avLst/>
          </a:prstGeom>
          <a:solidFill>
            <a:srgbClr val="05C3A3">
              <a:alpha val="40000"/>
            </a:srgbClr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8412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ML-Tutor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Tutoría con RAG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Machine Learning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82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315468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182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15468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82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15468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182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Documento</a:t>
            </a:r>
            <a:r>
              <a:rPr lang="en-US" sz="1200" b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Glosario</a:t>
            </a:r>
            <a:r>
              <a:rPr lang="en-US" sz="12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ML de Google  |  697 </a:t>
            </a:r>
            <a:r>
              <a:rPr lang="en-US" sz="12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términos</a:t>
            </a:r>
            <a:r>
              <a:rPr lang="en-US" sz="12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2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español</a:t>
            </a:r>
            <a:r>
              <a:rPr lang="en-US" sz="12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 |  Embeddings 384 dims Andrés Salcedo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1–4 · ARQUITECTURA, EMBEDDINGS Y VECTOR STORE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54480" cy="100584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1234440"/>
            <a:ext cx="155448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261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901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1234440"/>
            <a:ext cx="1554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261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901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9240" y="1234440"/>
            <a:ext cx="155448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9240" y="1261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1901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234440"/>
            <a:ext cx="1554480" cy="100584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261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901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47088" y="1737360"/>
            <a:ext cx="100584" cy="0"/>
          </a:xfrm>
          <a:prstGeom prst="line">
            <a:avLst/>
          </a:prstGeom>
          <a:noFill/>
          <a:ln w="25400">
            <a:solidFill>
              <a:srgbClr val="0E8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38728" y="1737360"/>
            <a:ext cx="100584" cy="0"/>
          </a:xfrm>
          <a:prstGeom prst="line">
            <a:avLst/>
          </a:prstGeom>
          <a:noFill/>
          <a:ln w="25400">
            <a:solidFill>
              <a:srgbClr val="0E8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737360"/>
            <a:ext cx="100584" cy="0"/>
          </a:xfrm>
          <a:prstGeom prst="line">
            <a:avLst/>
          </a:prstGeom>
          <a:noFill/>
          <a:ln w="25400">
            <a:solidFill>
              <a:srgbClr val="0E8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1737360"/>
            <a:ext cx="100584" cy="0"/>
          </a:xfrm>
          <a:prstGeom prst="line">
            <a:avLst/>
          </a:prstGeom>
          <a:noFill/>
          <a:ln w="25400">
            <a:solidFill>
              <a:srgbClr val="0E8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43200"/>
            <a:ext cx="8595360" cy="822960"/>
          </a:xfrm>
          <a:prstGeom prst="rect">
            <a:avLst/>
          </a:prstGeom>
          <a:solidFill>
            <a:srgbClr val="0D1B2A"/>
          </a:solidFill>
          <a:ln w="15240">
            <a:solidFill>
              <a:srgbClr val="0E8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889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consulta: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escribe pregunta → Embedding query → Búsqueda coseno en ChromaDB → k=3 chunks → Prompt aumentado → llama3.2 → Respuesta fundamentada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Prompt configurado: si el contexto no contiene la respuesta, el modelo responde "No encuentro esa información en el glosario"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1–4 · ARQUITECTURA, EMBEDDINGS Y VECTOR STORE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y Vectorización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FFFFFF">
              <a:alpha val="94000"/>
            </a:srgbClr>
          </a:solidFill>
          <a:ln w="1524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Embeddings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paraphrase-multilingual-MiniLM-L12-v2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(HuggingFace)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6151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dims por vector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Multilingüe — optimizado para español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 (hnsw:space: cosine)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MB — 100% local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4297680" cy="3474720"/>
          </a:xfrm>
          <a:prstGeom prst="rect">
            <a:avLst/>
          </a:prstGeom>
          <a:solidFill>
            <a:srgbClr val="FFFFFF">
              <a:alpha val="94000"/>
            </a:srgbClr>
          </a:solidFill>
          <a:ln w="1524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Ingesta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737360"/>
            <a:ext cx="73152" cy="347472"/>
          </a:xfrm>
          <a:prstGeom prst="rect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scraper.py descarga 697 términos del Glosario ML de Google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9424"/>
            <a:ext cx="73152" cy="347472"/>
          </a:xfrm>
          <a:prstGeom prst="rect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49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Cada término → documento: "Término: X\nDefinición: Y"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61488"/>
            <a:ext cx="73152" cy="347472"/>
          </a:xfrm>
          <a:prstGeom prst="rect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761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setup_db.py genera embeddings en lotes de 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273552"/>
            <a:ext cx="73152" cy="347472"/>
          </a:xfrm>
          <a:prstGeom prst="rect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73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Vectores almacenados en ChromaDB persistente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85616"/>
            <a:ext cx="73152" cy="347472"/>
          </a:xfrm>
          <a:prstGeom prst="rect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85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En consulta: query → embedding → top-k por coseno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1–4 · ARQUITECTURA, EMBEDDINGS Y VECTOR STORE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— Prueba de Similitud Coseno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vocabulario coloquial vs. términos técnicos del glosario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8595360" cy="23774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del usuario (lenguaje coloquial)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 recuperado del glosario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Similitud coseno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llama cuando el modelo memoriza los datos?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Sobreajuste (Overfitting)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 para bajar el error paso a paso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Descenso de gradiente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 el equilibrio entre error de entrenamiento y validación?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sesgo-varianza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¿Cuánto costó GPT-4?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(ningún chunk relevante recuperado)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— sin respuesta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8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config: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PersistentClient  |  hnsw:space=cosine  |  Colección: ml_glossary  |  697 docs  |  Batches de 50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5–6 · INTERFAZ GRÁFICA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— Modo Flashcards</a:t>
            </a:r>
            <a:endParaRPr lang="en-US" sz="2600" dirty="0"/>
          </a:p>
        </p:txBody>
      </p:sp>
      <p:pic>
        <p:nvPicPr>
          <p:cNvPr id="5" name="Image 0" descr="/Users/ext_andrsalc/Documents/Universidad/ml-tutor/docs/img/04_feedback_corre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51206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188720"/>
            <a:ext cx="3200400" cy="3566160"/>
          </a:xfrm>
          <a:prstGeom prst="rect">
            <a:avLst/>
          </a:prstGeom>
          <a:solidFill>
            <a:srgbClr val="FFFFFF">
              <a:alpha val="94000"/>
            </a:srgbClr>
          </a:solidFill>
          <a:ln w="1524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83080"/>
            <a:ext cx="201168" cy="201168"/>
          </a:xfrm>
          <a:prstGeom prst="ellipse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7647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inteligente de términos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(spaced repetition probabilístico)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386584"/>
            <a:ext cx="201168" cy="201168"/>
          </a:xfrm>
          <a:prstGeom prst="ellipse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3682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con puntuación 0–100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LLM + RAG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990088"/>
            <a:ext cx="201168" cy="201168"/>
          </a:xfrm>
          <a:prstGeom prst="ellipse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detallado 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 faltantes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593592"/>
            <a:ext cx="201168" cy="201168"/>
          </a:xfrm>
          <a:prstGeom prst="ellipse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5753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oficial expandible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cada respuesta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4197096"/>
            <a:ext cx="201168" cy="201168"/>
          </a:xfrm>
          <a:prstGeom prst="ellipse">
            <a:avLst/>
          </a:prstGeom>
          <a:solidFill>
            <a:srgbClr val="05C3A3"/>
          </a:solidFill>
          <a:ln w="12700">
            <a:solidFill>
              <a:srgbClr val="05C3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4178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progreso persistente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(progress.json)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5–6 · INTERFAZ GRÁFICA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— Chat Libre y Panel de Progreso</a:t>
            </a:r>
            <a:endParaRPr lang="en-US" sz="2600" dirty="0"/>
          </a:p>
        </p:txBody>
      </p:sp>
      <p:pic>
        <p:nvPicPr>
          <p:cNvPr id="5" name="Image 0" descr="/Users/ext_andrsalc/Documents/Universidad/ml-tutor/docs/img/09_chat_answer.png"/>
          <p:cNvPicPr>
            <a:picLocks noChangeAspect="1"/>
          </p:cNvPicPr>
          <p:nvPr/>
        </p:nvPicPr>
        <p:blipFill>
          <a:blip r:embed="rId3"/>
          <a:srcRect l="31640" t="16709" r="30069"/>
          <a:stretch>
            <a:fillRect/>
          </a:stretch>
        </p:blipFill>
        <p:spPr>
          <a:xfrm>
            <a:off x="978955" y="1013651"/>
            <a:ext cx="3405247" cy="3740335"/>
          </a:xfrm>
          <a:prstGeom prst="rect">
            <a:avLst/>
          </a:prstGeom>
        </p:spPr>
      </p:pic>
      <p:pic>
        <p:nvPicPr>
          <p:cNvPr id="6" name="Image 1" descr="/Users/ext_andrsalc/Documents/Universidad/ml-tutor/docs/img/10_progress.png"/>
          <p:cNvPicPr>
            <a:picLocks noChangeAspect="1"/>
          </p:cNvPicPr>
          <p:nvPr/>
        </p:nvPicPr>
        <p:blipFill>
          <a:blip r:embed="rId4"/>
          <a:srcRect l="25683" t="17122" r="29358"/>
          <a:stretch>
            <a:fillRect/>
          </a:stretch>
        </p:blipFill>
        <p:spPr>
          <a:xfrm>
            <a:off x="4576417" y="1010127"/>
            <a:ext cx="3291844" cy="3744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7–8 · PANEL DE EVALUACIÓN RAGAS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Evaluación — Tabla RAGAS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Juez: gpt-4o-mini (OpenAI)  ·  Generador: llama3.2 (Ollama)  ·  k=3  ·  Embeddings: paraphrase-multilingual-MiniLM-L12-v2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17320"/>
          <a:ext cx="8686800" cy="33832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Ans. Relevancy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Ctx.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 el sobreajuste (overfitting)?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 el descenso de gradiente?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 una función de pérdida?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llama cuando un modelo memoriza?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 iterativa para minimizar función costo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entre sesgo y varianza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entre regularización L1 y 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¿Cuánto costó desarrollar GPT-4?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es el CEO de DeepMind?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¿Precio de ChatGPT Plus en Colombia?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Valores estimados con gpt-4o-mini como juez. Los resultados reales se obtienen ejecutando evaluate_rag.ipynb.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7–8 · PANEL DE EVALUACIÓN RAGAS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Métricas por Tipo de Pregunta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926080" cy="3474720"/>
          </a:xfrm>
          <a:prstGeom prst="rect">
            <a:avLst/>
          </a:prstGeom>
          <a:solidFill>
            <a:srgbClr val="FFFFFF">
              <a:alpha val="94000"/>
            </a:srgbClr>
          </a:solidFill>
          <a:ln w="1524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220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Tipo A: métricas altas — embeddings recuperan el término exacto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23591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Tipo B: buen desempeño semántico — el modelo multilingual generaliza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302666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Tipo C: caída leve — k=3 no siempre captura todos los conceptos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369417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Tipo D: faithfulness muy baja — el LLM genera info sin respaldo documental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9–10 · CASOS DE ÉXITO Y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Éxito — Recuperación Literal (Tipo 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"¿Qué es el sobreajuste (overfitting) en machine learning?"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023360" cy="3108960"/>
          </a:xfrm>
          <a:prstGeom prst="rect">
            <a:avLst/>
          </a:prstGeom>
          <a:solidFill>
            <a:srgbClr val="FFFFFF">
              <a:alpha val="94000"/>
            </a:srgbClr>
          </a:solidFill>
          <a:ln w="1524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recuperado (k=3)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1: Término: Sobreajuste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Crear un modelo que coincide tan estrechamente con los datos de entrenamiento que no logra generalizar correctamente a los datos nuevos...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2: Término: Subajuste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3: Término: Generalización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4297680" cy="3108960"/>
          </a:xfrm>
          <a:prstGeom prst="rect">
            <a:avLst/>
          </a:prstGeom>
          <a:solidFill>
            <a:srgbClr val="FFFFFF">
              <a:alpha val="94000"/>
            </a:srgbClr>
          </a:solidFill>
          <a:ln w="15240">
            <a:solidFill>
              <a:srgbClr val="0E8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generada + Métricas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21284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sobreajuste ocurre cuando un modelo aprende demasiado bien los datos de entrenamiento, incluyendo el ruido, lo que impide una correcta generalización a datos nuevos..."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3520440"/>
            <a:ext cx="1234440" cy="6858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5478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3520440"/>
            <a:ext cx="1234440" cy="6858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5478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8076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3520440"/>
            <a:ext cx="1234440" cy="685800"/>
          </a:xfrm>
          <a:prstGeom prst="rect">
            <a:avLst/>
          </a:prstGeom>
          <a:solidFill>
            <a:srgbClr val="15803D">
              <a:alpha val="12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5478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Por qué funcionó: el término 'sobreajuste' existe verbatim en el glosario. El embedding recuperó el chunk correcto con alta similitud coseno.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5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9–10 · CASOS DE ÉXITO Y ERROR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Error — Pregunta Fuera del Dominio (Tipo 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"¿Cuánto costó en dólares desarrollar el modelo GPT-4 de OpenAI?"</a:t>
            </a:r>
            <a:endParaRPr lang="en-US" sz="1200" dirty="0"/>
          </a:p>
        </p:txBody>
      </p:sp>
      <p:pic>
        <p:nvPicPr>
          <p:cNvPr id="7" name="Image 0" descr="/Users/ext_andrsalc/Documents/Universidad/ml-tutor/docs/img/11_anti_alucination.png"/>
          <p:cNvPicPr>
            <a:picLocks noChangeAspect="1"/>
          </p:cNvPicPr>
          <p:nvPr/>
        </p:nvPicPr>
        <p:blipFill>
          <a:blip r:embed="rId3"/>
          <a:srcRect l="25527" r="24694" b="36811"/>
          <a:stretch>
            <a:fillRect/>
          </a:stretch>
        </p:blipFill>
        <p:spPr>
          <a:xfrm>
            <a:off x="2784374" y="1659429"/>
            <a:ext cx="3300094" cy="22417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977640"/>
            <a:ext cx="2651760" cy="685800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" y="4389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3977640"/>
            <a:ext cx="2651760" cy="685800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108960" y="4389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977640"/>
            <a:ext cx="2651760" cy="685800"/>
          </a:xfrm>
          <a:prstGeom prst="rect">
            <a:avLst/>
          </a:prstGeom>
          <a:solidFill>
            <a:srgbClr val="991B1B">
              <a:alpha val="12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943600" y="4389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7823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Causa raíz: el glosario no contiene información financiera. Los embeddings recuperaron chunks tangencialmente relacionados (OpenAI Gym) causando una respuesta inventada. Solución: agregar un clasificador de relevancia del contexto antes de la generación.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ML-Tutor — Sistema RAG para Tutoría de Machine Learning</dc:title>
  <dc:subject>PptxGenJS Presentation</dc:subject>
  <dc:creator>ML-Tutor</dc:creator>
  <cp:lastModifiedBy>ML-Tutor</cp:lastModifiedBy>
  <cp:revision>19</cp:revision>
  <dcterms:created xsi:type="dcterms:W3CDTF">2026-05-17T02:45:03Z</dcterms:created>
  <dcterms:modified xsi:type="dcterms:W3CDTF">2026-05-17T02:53:34Z</dcterms:modified>
</cp:coreProperties>
</file>